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Urbanist Medium"/>
      <p:regular r:id="rId13"/>
      <p:bold r:id="rId14"/>
      <p:italic r:id="rId15"/>
      <p:boldItalic r:id="rId16"/>
    </p:embeddedFont>
    <p:embeddedFont>
      <p:font typeface="Urbanis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UrbanistMedium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Medium-italic.fntdata"/><Relationship Id="rId14" Type="http://schemas.openxmlformats.org/officeDocument/2006/relationships/font" Target="fonts/UrbanistMedium-bold.fntdata"/><Relationship Id="rId17" Type="http://schemas.openxmlformats.org/officeDocument/2006/relationships/font" Target="fonts/Urbanist-regular.fntdata"/><Relationship Id="rId16" Type="http://schemas.openxmlformats.org/officeDocument/2006/relationships/font" Target="fonts/UrbanistMedium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italic.fntdata"/><Relationship Id="rId6" Type="http://schemas.openxmlformats.org/officeDocument/2006/relationships/slide" Target="slides/slide1.xml"/><Relationship Id="rId18" Type="http://schemas.openxmlformats.org/officeDocument/2006/relationships/font" Target="fonts/Urbanis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9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3.png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8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768947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Predicción de Ventas en </a:t>
            </a:r>
            <a:r>
              <a:rPr b="1" i="0" lang="en-US" sz="525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Amazon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692872"/>
            <a:ext cx="11049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A8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Proyecto Final de Machine Learning - Datux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762000" y="571500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El </a:t>
            </a:r>
            <a:r>
              <a:rPr b="1" i="0" lang="en-US" sz="30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Reto Principal</a:t>
            </a:r>
            <a:endParaRPr/>
          </a:p>
        </p:txBody>
      </p:sp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2436911"/>
            <a:ext cx="4572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0B3C6"/>
                </a:solidFill>
                <a:latin typeface="Urbanist"/>
                <a:ea typeface="Urbanist"/>
                <a:cs typeface="Urbanist"/>
                <a:sym typeface="Urbanist"/>
              </a:rPr>
              <a:t>En el comercio electrónico, predecir el rendimiento de un producto es fundamental para tomar decisiones estratégicas.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62000" y="3680519"/>
            <a:ext cx="45720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0B3C6"/>
                </a:solidFill>
                <a:latin typeface="Urbanist"/>
                <a:ea typeface="Urbanist"/>
                <a:cs typeface="Urbanist"/>
                <a:sym typeface="Urbanist"/>
              </a:rPr>
              <a:t>¿Podemos anticipar si un producto generará ingresos altos o bajos basándonos únicamente en sus características iniciales, como el precio, su categoría y la región de venta?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71500" y="2809875"/>
            <a:ext cx="52387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&lt;0.05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71500" y="4429125"/>
            <a:ext cx="5238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A8E1"/>
                </a:solidFill>
                <a:latin typeface="Urbanist"/>
                <a:ea typeface="Urbanist"/>
                <a:cs typeface="Urbanist"/>
                <a:sym typeface="Urbanist"/>
              </a:rPr>
              <a:t>p-valor (Dickey-Fuller)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381750" y="2518767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Tendencia Controlada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381750" y="2985492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0B3C6"/>
                </a:solidFill>
                <a:latin typeface="Urbanist"/>
                <a:ea typeface="Urbanist"/>
                <a:cs typeface="Urbanist"/>
                <a:sym typeface="Urbanist"/>
              </a:rPr>
              <a:t>Comprobamos matemáticamente que nuestra serie de ventas mensuales es completamente estacionaria.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381750" y="3836789"/>
            <a:ext cx="523875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0B3C6"/>
                </a:solidFill>
                <a:latin typeface="Urbanist"/>
                <a:ea typeface="Urbanist"/>
                <a:cs typeface="Urbanist"/>
                <a:sym typeface="Urbanist"/>
              </a:rPr>
              <a:t>Esto garantiza que nuestro modelo de Machine Learning podrá encontrar patrones estables, evitando que una tendencia incontrolable afecte la precisión del pronóstico futuro.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Análisis de </a:t>
            </a:r>
            <a:r>
              <a:rPr b="1" i="0" lang="en-US" sz="30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Estacionalidad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52786"/>
            <a:ext cx="3492549" cy="35904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52786"/>
            <a:ext cx="3492549" cy="35904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52786"/>
            <a:ext cx="3492549" cy="359047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794225" y="3310086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La Fuga de Datos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866775" y="3805386"/>
            <a:ext cx="2901999" cy="1447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0B3C6"/>
                </a:solidFill>
                <a:latin typeface="Urbanist"/>
                <a:ea typeface="Urbanist"/>
                <a:cs typeface="Urbanist"/>
                <a:sym typeface="Urbanist"/>
              </a:rPr>
              <a:t>Al inicio, obtuvimos un 100% de precisión. Detectamos que usar la "cantidad vendida" era hacer trampa. El modelo solo usaba una calculadora.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4572524" y="3310086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La Solución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4645074" y="3805386"/>
            <a:ext cx="2901999" cy="1447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0B3C6"/>
                </a:solidFill>
                <a:latin typeface="Urbanist"/>
                <a:ea typeface="Urbanist"/>
                <a:cs typeface="Urbanist"/>
                <a:sym typeface="Urbanist"/>
              </a:rPr>
              <a:t>Eliminamos variables obvias. Entrenamos un algoritmo Random Forest para predecir basándose solo en la categoría, región, precio y método de pago.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350824" y="3310086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El Examen Sorpresa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423374" y="3805386"/>
            <a:ext cx="2901999" cy="1447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B0B3C6"/>
                </a:solidFill>
                <a:latin typeface="Urbanist"/>
                <a:ea typeface="Urbanist"/>
                <a:cs typeface="Urbanist"/>
                <a:sym typeface="Urbanist"/>
              </a:rPr>
              <a:t>Aplicamos un 'Train Test Split', ocultando estratégicamente el 30% de los datos al modelo para evaluarlo en un escenario 100% realista.</a:t>
            </a:r>
            <a:endParaRPr/>
          </a:p>
        </p:txBody>
      </p:sp>
      <p:pic>
        <p:nvPicPr>
          <p:cNvPr descr="image.png" id="121" name="Google Shape;12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5762" y="2481411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67387" y="2481411"/>
            <a:ext cx="6572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45699" y="2481411"/>
            <a:ext cx="45720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Machine Learning &amp; </a:t>
            </a:r>
            <a:r>
              <a:rPr b="1" i="0" lang="en-US" sz="30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Datos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04975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1000125" y="1982688"/>
            <a:ext cx="48101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Falsos Positivos:</a:t>
            </a:r>
            <a:r>
              <a:rPr b="0" i="0" lang="en-US" sz="1650" u="none" cap="none" strike="noStrike">
                <a:solidFill>
                  <a:srgbClr val="B0B3C6"/>
                </a:solidFill>
                <a:latin typeface="Urbanist"/>
                <a:ea typeface="Urbanist"/>
                <a:cs typeface="Urbanist"/>
                <a:sym typeface="Urbanist"/>
              </a:rPr>
              <a:t> El modelo predice ventas altas. La empresa invierte en marketing, pero el producto no despega. Se pierde dinero.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1000125" y="3226296"/>
            <a:ext cx="48101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Falsos Negativos:</a:t>
            </a:r>
            <a:r>
              <a:rPr b="0" i="0" lang="en-US" sz="1650" u="none" cap="none" strike="noStrike">
                <a:solidFill>
                  <a:srgbClr val="B0B3C6"/>
                </a:solidFill>
                <a:latin typeface="Urbanist"/>
                <a:ea typeface="Urbanist"/>
                <a:cs typeface="Urbanist"/>
                <a:sym typeface="Urbanist"/>
              </a:rPr>
              <a:t> El modelo predice ventas bajas. No preparamos inventario y la demanda explota. Se pierde una gran oportunidad.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1000125" y="4469903"/>
            <a:ext cx="48101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Objetivo:</a:t>
            </a:r>
            <a:r>
              <a:rPr b="0" i="0" lang="en-US" sz="1650" u="none" cap="none" strike="noStrike">
                <a:solidFill>
                  <a:srgbClr val="B0B3C6"/>
                </a:solidFill>
                <a:latin typeface="Urbanist"/>
                <a:ea typeface="Urbanist"/>
                <a:cs typeface="Urbanist"/>
                <a:sym typeface="Urbanist"/>
              </a:rPr>
              <a:t> Evaluar la Matriz de Confusión para minimizar estos errores y ayudar a la empresa a optimizar su stock.</a:t>
            </a:r>
            <a:endParaRPr/>
          </a:p>
        </p:txBody>
      </p:sp>
      <p:pic>
        <p:nvPicPr>
          <p:cNvPr descr="image.png" id="134" name="Google Shape;13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1724025"/>
            <a:ext cx="5200650" cy="424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016025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259633"/>
            <a:ext cx="3143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503241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Impacto de </a:t>
            </a:r>
            <a:r>
              <a:rPr b="1" i="0" lang="en-US" sz="3000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Negocio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295275" y="2234505"/>
            <a:ext cx="1160145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75" u="none" cap="none" strike="noStrik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¡Gracias a Datux!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571500" y="344418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B0B3C6"/>
                </a:solidFill>
                <a:latin typeface="Urbanist"/>
                <a:ea typeface="Urbanist"/>
                <a:cs typeface="Urbanist"/>
                <a:sym typeface="Urbanist"/>
              </a:rPr>
              <a:t>¿Qué algoritmo de Machine Learning hubieran elegido ustedes?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571500" y="4347120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A8E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Espero sus respuestas y comentarios en esta publicación de LinkedIn.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/>
          <p:nvPr/>
        </p:nvSpPr>
        <p:spPr>
          <a:xfrm>
            <a:off x="1395412" y="3068091"/>
            <a:ext cx="9401175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1395412" y="3843337"/>
            <a:ext cx="94011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1395412" y="3843337"/>
            <a:ext cx="94011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5" name="Google Shape;15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5412" y="321751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2490787" y="3210966"/>
            <a:ext cx="83058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0B3C6"/>
                </a:solidFill>
                <a:latin typeface="Urbanist"/>
                <a:ea typeface="Urbanist"/>
                <a:cs typeface="Urbanist"/>
                <a:sym typeface="Urbanist"/>
              </a:rPr>
              <a:t>https://png.pngtree.com/png-vector/20250205/ourmid/pngtree-modern-data-visualization-screen-for-analytics-dashboard-png-image_15381161.png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2490787" y="3456682"/>
            <a:ext cx="83058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3C6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pngtree.com</a:t>
            </a:r>
            <a:endParaRPr/>
          </a:p>
        </p:txBody>
      </p:sp>
      <p:pic>
        <p:nvPicPr>
          <p:cNvPr descr="image.png" id="158" name="Google Shape;15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5412" y="400228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2490787" y="3995737"/>
            <a:ext cx="83058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0B3C6"/>
                </a:solidFill>
                <a:latin typeface="Urbanist"/>
                <a:ea typeface="Urbanist"/>
                <a:cs typeface="Urbanist"/>
                <a:sym typeface="Urbanist"/>
              </a:rPr>
              <a:t>https://www.mrpeasy.com/blog/wp-content/uploads/2024/08/obsolete-inventory-1024x576.jpg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2490787" y="4241452"/>
            <a:ext cx="83058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3C6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www.mrpeasy.com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